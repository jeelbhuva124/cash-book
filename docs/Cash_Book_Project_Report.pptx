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napVertSplitter="1" vertBarState="minimized" horzBarState="maximized">
    <p:restoredLeft sz="6688" autoAdjust="0"/>
    <p:restoredTop sz="94610"/>
  </p:normalViewPr>
  <p:slideViewPr>
    <p:cSldViewPr snapToGrid="0" snapToObjects="1">
      <p:cViewPr varScale="1">
        <p:scale>
          <a:sx n="98" d="100"/>
          <a:sy n="98" d="100"/>
        </p:scale>
        <p:origin x="844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569239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IN_LAYOUT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828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CASH-BOOK  •  SMART FINANCE &amp; DIGITAL LEDGER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731520" y="868680"/>
            <a:ext cx="76809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4754880"/>
            <a:ext cx="76809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4800600"/>
            <a:ext cx="5943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Sutex Bank College of Computer Applications &amp; Science, Amroli  |  B.C.A. Sem-5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6858000" y="4800600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Cash-Book Presentation</a:t>
            </a:r>
            <a:endParaRPr lang="en-US" sz="9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google.com/aclk?sa=L&amp;ai=DChsSEwijhv6TyLGXAxVgk2YCHZBqKh0YACICCAEQABoCc20&amp;ae=2&amp;co=1&amp;ase=2&amp;gclid=CjwKCAjw56zWBhB0EiwAdPOQOSokBOlVIJ0bskGMtF2xWYUnc3ERPrF8Se9gLZ5f2mkoawpSxF_2wBoC1SYQAvD_BwE&amp;cid=CAAS3QHkaHAcFD2R54uccOETTz1Uga3iFRLNhWTWk_pWH1RFP5Gbt7uwPS9523lQLCM40S114Us8YT2MxvZ7el1sdnT1SZ90A9xprKbTthAclyBnm7ZX3j_9-GY-t1LfsUEOL1ld7Jx-eClbUd4U1NhiV1tivYhglWzzMpQFBDSqf0oxWDlGQDrG_C5J3qeD-Oi71TnYrkiyCXBKFj1jGHn5WiDyr8bN3TV5Vzuvc1fsqqC4CrNp1KROPRh7AOWep5ODHvbvikH6jICnh-Vvalc5YZ8TceJ1vHLI0C0lYWle_Q&amp;cce=2&amp;category=acrcp_v1_71&amp;sig=AOD64_3icQpIvTb-x0DYlYfHHMZfwEjjsQ&amp;q&amp;nis=4&amp;adurl&amp;ved=2ahUKEwij2veTyLGXAxVbiuEIHdheBI4Q0Qx6BAgYEAE" TargetMode="External"/><Relationship Id="rId3" Type="http://schemas.openxmlformats.org/officeDocument/2006/relationships/hyperlink" Target="https://reactjs.org/docs/getting-started.html" TargetMode="External"/><Relationship Id="rId7" Type="http://schemas.openxmlformats.org/officeDocument/2006/relationships/hyperlink" Target="https://tailwindcss.com/docs" TargetMode="External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docs.mongodb.com/manual/" TargetMode="External"/><Relationship Id="rId5" Type="http://schemas.openxmlformats.org/officeDocument/2006/relationships/hyperlink" Target="https://expressjs.com/en/4x/api.html" TargetMode="External"/><Relationship Id="rId4" Type="http://schemas.openxmlformats.org/officeDocument/2006/relationships/hyperlink" Target="https://nodejs.org/en/docs/" TargetMode="External"/><Relationship Id="rId9" Type="http://schemas.openxmlformats.org/officeDocument/2006/relationships/image" Target="../media/image21.png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hape 4"/>
          <p:cNvSpPr/>
          <p:nvPr/>
        </p:nvSpPr>
        <p:spPr>
          <a:xfrm>
            <a:off x="731520" y="1805873"/>
            <a:ext cx="7680960" cy="1177024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1902111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PROJECT PRESENTATION ON</a:t>
            </a:r>
          </a:p>
        </p:txBody>
      </p:sp>
      <p:sp>
        <p:nvSpPr>
          <p:cNvPr id="9" name="Text 6"/>
          <p:cNvSpPr/>
          <p:nvPr/>
        </p:nvSpPr>
        <p:spPr>
          <a:xfrm>
            <a:off x="914400" y="2130711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Cash-Book: Smart Finance &amp; Digital Ledger</a:t>
            </a:r>
            <a:endParaRPr 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914400" y="2610852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Comprehensive Web Application for Personal &amp; Small Business Cashflows, Ledgers &amp; Expense Analytics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85800" y="3211497"/>
            <a:ext cx="438912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05840" y="3337560"/>
            <a:ext cx="3840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SUBMITTED BY: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1005840" y="3611880"/>
            <a:ext cx="38404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lnSpc>
                <a:spcPts val="2200"/>
              </a:lnSpc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Bhuva Jeel M.  (Roll No: 520) – Seat No. : 5564
•  Savsaviya Kushal B.  (Roll No: 526) – Seat No. : 5908
•  Narola Jash M.  (Roll No: 558) – Seat No. : 5812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303520" y="3200400"/>
            <a:ext cx="310896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577840" y="333756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GUIDED BY: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5577840" y="3657600"/>
            <a:ext cx="25603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Sanskruti Ramani
</a:t>
            </a:r>
            <a:r>
              <a:rPr lang="en-US" sz="11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Assistant Professor, BCA Dept.
Academic Year: 2026–2027</a:t>
            </a:r>
            <a:endParaRPr lang="en-US" sz="1400" dirty="0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9F2D3D98-E489-6FE9-F5A0-6CCC0406F5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52" y="0"/>
            <a:ext cx="1560143" cy="1284824"/>
          </a:xfrm>
          <a:prstGeom prst="rect">
            <a:avLst/>
          </a:prstGeom>
        </p:spPr>
      </p:pic>
      <p:sp>
        <p:nvSpPr>
          <p:cNvPr id="24" name="Rectangle 23">
            <a:extLst>
              <a:ext uri="{FF2B5EF4-FFF2-40B4-BE49-F238E27FC236}">
                <a16:creationId xmlns:a16="http://schemas.microsoft.com/office/drawing/2014/main" id="{B1AF320A-87AF-D470-A7BB-AC42FA85BBA6}"/>
              </a:ext>
            </a:extLst>
          </p:cNvPr>
          <p:cNvSpPr/>
          <p:nvPr/>
        </p:nvSpPr>
        <p:spPr>
          <a:xfrm>
            <a:off x="1683702" y="101717"/>
            <a:ext cx="6325235" cy="7386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400" b="1" dirty="0">
                <a:latin typeface="+mj-lt"/>
                <a:cs typeface="Arial" panose="020B0604020202020204" pitchFamily="34" charset="0"/>
              </a:rPr>
              <a:t>Prof.V.B.Shah Institute of Management &amp; R.V.Patel College of Commerce (Eng.Med.) &amp; V.L.Shah College of Commerce (Guj.Med.) &amp; Sutex Bank College of Computer Applications &amp; Science, Amroli</a:t>
            </a:r>
            <a:endParaRPr lang="en-IN" sz="1400" b="1" dirty="0">
              <a:latin typeface="+mj-lt"/>
              <a:cs typeface="Arial" panose="020B0604020202020204" pitchFamily="34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21624CC-3BDD-E8FF-64F4-A2639149B54B}"/>
              </a:ext>
            </a:extLst>
          </p:cNvPr>
          <p:cNvSpPr txBox="1"/>
          <p:nvPr/>
        </p:nvSpPr>
        <p:spPr>
          <a:xfrm>
            <a:off x="1569395" y="837836"/>
            <a:ext cx="6381174" cy="66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200" dirty="0">
                <a:solidFill>
                  <a:schemeClr val="tx1">
                    <a:lumMod val="95000"/>
                  </a:schemeClr>
                </a:solidFill>
                <a:latin typeface="+mj-lt"/>
                <a:cs typeface="Arial" panose="020B0604020202020204" pitchFamily="34" charset="0"/>
              </a:rPr>
              <a:t>VEER NARMAD SOUTH GUJARAT UNIVERSITY, SURAT</a:t>
            </a:r>
          </a:p>
          <a:p>
            <a:pPr algn="ctr"/>
            <a:r>
              <a:rPr lang="en-US" sz="1200" dirty="0">
                <a:solidFill>
                  <a:schemeClr val="tx1">
                    <a:lumMod val="95000"/>
                  </a:schemeClr>
                </a:solidFill>
                <a:latin typeface="+mj-lt"/>
                <a:cs typeface="Arial" panose="020B0604020202020204" pitchFamily="34" charset="0"/>
              </a:rPr>
              <a:t>Minor PROJECT REPORT FOR THE DEGREE OF </a:t>
            </a:r>
          </a:p>
          <a:p>
            <a:pPr algn="ctr"/>
            <a:r>
              <a:rPr lang="en-US" sz="1300" dirty="0">
                <a:solidFill>
                  <a:schemeClr val="tx1">
                    <a:lumMod val="95000"/>
                  </a:schemeClr>
                </a:solidFill>
                <a:latin typeface="+mj-lt"/>
                <a:cs typeface="Arial" panose="020B0604020202020204" pitchFamily="34" charset="0"/>
              </a:rPr>
              <a:t>Bachelor of computer application </a:t>
            </a:r>
            <a:r>
              <a:rPr lang="en-US" sz="1200" dirty="0">
                <a:solidFill>
                  <a:schemeClr val="tx1">
                    <a:lumMod val="95000"/>
                  </a:schemeClr>
                </a:solidFill>
                <a:latin typeface="+mj-lt"/>
                <a:cs typeface="Arial" panose="020B0604020202020204" pitchFamily="34" charset="0"/>
              </a:rPr>
              <a:t>(B.C.A 5TH SEMESTER) </a:t>
            </a:r>
            <a:r>
              <a:rPr lang="en-US" sz="1300" dirty="0">
                <a:solidFill>
                  <a:schemeClr val="tx1">
                    <a:lumMod val="95000"/>
                  </a:schemeClr>
                </a:solidFill>
                <a:latin typeface="+mj-lt"/>
                <a:cs typeface="Arial" panose="020B0604020202020204" pitchFamily="34" charset="0"/>
              </a:rPr>
              <a:t>YEAR: 2026-27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7680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Project Profile &amp; Specifications</a:t>
            </a:r>
            <a:endParaRPr lang="en-US" sz="22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097280"/>
          <a:ext cx="7680960" cy="2438400"/>
        </p:xfrm>
        <a:graphic>
          <a:graphicData uri="http://schemas.openxmlformats.org/drawingml/2006/table">
            <a:tbl>
              <a:tblPr/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394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Attribute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4ED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Specification Details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101600" marR="101600" marT="50800" marB="508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4E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Project Title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Cash-Book: Smart Finance &amp; Digital Ledger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Application Domain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Personal Finance, Digital Bookkeeping, Small Business Accounts Management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Front-End Technologies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React 18 (Vite Bundler), Tailwind CSS, Framer Motion, Lucide React Icons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Back-End Technologies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Node.js, Express.js (RESTful API Server)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Database Management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MongoDB (NoSQL Document Store) with Mongoose ODM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Security &amp; Auth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JSON Web Tokens (JWT), Bcrypt Password Hashing, Role-Based Access Control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Development Tools &amp; IDE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Visual Studio Code, Git, GitHub, Postman API Client, MongoDB Compass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Target Platforms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Cross-Platform Modern Web Browsers (Chrome, Edge, Firefox, Safari)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7680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Presentation Overview (Table of Contents)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731520" y="1234440"/>
            <a:ext cx="182880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68680" y="1371600"/>
            <a:ext cx="1554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68680" y="1628897"/>
            <a:ext cx="177432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Introduction &amp; Objectives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68680" y="2160270"/>
            <a:ext cx="1554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Background, problem statement &amp; system scope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697480" y="1234440"/>
            <a:ext cx="182880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834640" y="1371600"/>
            <a:ext cx="1554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834640" y="1628897"/>
            <a:ext cx="177432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Technology Architecture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834640" y="2160270"/>
            <a:ext cx="1554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MERN stack, design patterns &amp; development tools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663440" y="1234440"/>
            <a:ext cx="182880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00600" y="1371600"/>
            <a:ext cx="1554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800600" y="1628897"/>
            <a:ext cx="177432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System Modeling &amp; Diagrams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800600" y="2160270"/>
            <a:ext cx="1554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Flow, Context DFD &amp; ER Diagrams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629400" y="1234440"/>
            <a:ext cx="182880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766560" y="1371600"/>
            <a:ext cx="1554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766560" y="1628897"/>
            <a:ext cx="177432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Database Schema Design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766560" y="2160270"/>
            <a:ext cx="1554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MongoDB collections, constraints &amp; relations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31520" y="2880360"/>
            <a:ext cx="182880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68680" y="3017520"/>
            <a:ext cx="1554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8680" y="3274817"/>
            <a:ext cx="177432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Admin Governance Modules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8680" y="3806190"/>
            <a:ext cx="1554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Dashboard, user controls &amp; platform analytics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2697480" y="2880360"/>
            <a:ext cx="182880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834640" y="3017520"/>
            <a:ext cx="1554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06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2834640" y="3274817"/>
            <a:ext cx="177432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User Digital Ledger Modules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2834640" y="3806190"/>
            <a:ext cx="1554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Cashbooks, Party Ledger, EMI tracker &amp; vault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663440" y="2880360"/>
            <a:ext cx="182880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800600" y="3017520"/>
            <a:ext cx="1554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07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4800600" y="3274817"/>
            <a:ext cx="177432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Security &amp; Best Practices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800600" y="3806190"/>
            <a:ext cx="1554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sessions, hashing &amp; data validation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6629400" y="2880360"/>
            <a:ext cx="182880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766560" y="3017520"/>
            <a:ext cx="1554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08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66561" y="3274817"/>
            <a:ext cx="1691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Future Enhancements &amp; Conclusion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766560" y="3806190"/>
            <a:ext cx="1554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OCR scanning, roadmap &amp; project references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7680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Introduction &amp; Problem Statement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731520" y="1143000"/>
            <a:ext cx="3703320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14400" y="1325880"/>
            <a:ext cx="3337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C26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Traditional Paper Ledgers (Challenges)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914400" y="1737360"/>
            <a:ext cx="333756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High Risk of Data Loss: 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 books get damaged by water, fire, or accidental misplacement.
</a:t>
            </a: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Calculation Errors: 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arithmetic calculations lead to discrepancies and accounting mistakes.
</a:t>
            </a: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Lack of Portability: 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 books cannot be accessed remotely or shared across multiple partners.
</a:t>
            </a: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No Real-Time Insights: 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Impossible to see automated monthly spending charts, trends, or debt forecasts.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709160" y="1143000"/>
            <a:ext cx="3703320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892040" y="1325880"/>
            <a:ext cx="3337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596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Cash-Book Digital Solution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892040" y="1737360"/>
            <a:ext cx="333756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100% Cloud Persistence: 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 MongoDB database ensures transactions are never lost or corrupted.
</a:t>
            </a: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Automated Calculations: 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running balances, income/expense aggregation, and debt summaries.
</a:t>
            </a: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Multi-Cashbook Sharing: 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Invite business partners or family members via email invitations to collaborate.
</a:t>
            </a: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Built-in Receipts Vault: 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digital bill images and attach them directly to monetary transaction logs.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7680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Project Objectives &amp; Key Goals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731520" y="1234440"/>
            <a:ext cx="242316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8680" y="1371600"/>
            <a:ext cx="411480" cy="274320"/>
          </a:xfrm>
          <a:prstGeom prst="rect">
            <a:avLst/>
          </a:prstGeom>
          <a:solidFill>
            <a:srgbClr val="EFF6FF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37160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371600" y="137160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Simplify Financial Tracking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68680" y="1737360"/>
            <a:ext cx="21488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 users to log daily income and expenses in seconds with categorized tags and payment modes.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383280" y="1234440"/>
            <a:ext cx="242316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520440" y="1371600"/>
            <a:ext cx="411480" cy="274320"/>
          </a:xfrm>
          <a:prstGeom prst="rect">
            <a:avLst/>
          </a:prstGeom>
          <a:solidFill>
            <a:srgbClr val="EFF6FF"/>
          </a:solidFill>
          <a:ln/>
        </p:spPr>
      </p:sp>
      <p:sp>
        <p:nvSpPr>
          <p:cNvPr id="10" name="Text 8"/>
          <p:cNvSpPr/>
          <p:nvPr/>
        </p:nvSpPr>
        <p:spPr>
          <a:xfrm>
            <a:off x="3520440" y="137160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023360" y="137160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Credit Tracking (Party Ledger)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520440" y="1737360"/>
            <a:ext cx="21488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credit, borrowing, and lending with automated Net Balance calculators and WhatsApp credit reminder triggers.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035040" y="1234440"/>
            <a:ext cx="242316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172200" y="1371600"/>
            <a:ext cx="411480" cy="274320"/>
          </a:xfrm>
          <a:prstGeom prst="rect">
            <a:avLst/>
          </a:prstGeom>
          <a:solidFill>
            <a:srgbClr val="EFF6FF"/>
          </a:solidFill>
          <a:ln/>
        </p:spPr>
      </p:sp>
      <p:sp>
        <p:nvSpPr>
          <p:cNvPr id="15" name="Text 13"/>
          <p:cNvSpPr/>
          <p:nvPr/>
        </p:nvSpPr>
        <p:spPr>
          <a:xfrm>
            <a:off x="6172200" y="137160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675120" y="1371600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Manage Fixed Financial Commitments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172200" y="1737360"/>
            <a:ext cx="21488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Centralized tracking of EMIs and recurring subscriptions with due-date calendar views to prevent late fees.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731520" y="2926080"/>
            <a:ext cx="242316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68680" y="3063240"/>
            <a:ext cx="411480" cy="274320"/>
          </a:xfrm>
          <a:prstGeom prst="rect">
            <a:avLst/>
          </a:prstGeom>
          <a:solidFill>
            <a:srgbClr val="EFF6FF"/>
          </a:solidFill>
          <a:ln/>
        </p:spPr>
      </p:sp>
      <p:sp>
        <p:nvSpPr>
          <p:cNvPr id="20" name="Text 18"/>
          <p:cNvSpPr/>
          <p:nvPr/>
        </p:nvSpPr>
        <p:spPr>
          <a:xfrm>
            <a:off x="868680" y="306324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371600" y="306324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Digital Proof Storage (Vault)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8680" y="3429000"/>
            <a:ext cx="21488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Eliminate physical paper receipts by offering a digital image vault linked to individual transaction records.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3383280" y="2926080"/>
            <a:ext cx="242316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520440" y="3063240"/>
            <a:ext cx="411480" cy="274320"/>
          </a:xfrm>
          <a:prstGeom prst="rect">
            <a:avLst/>
          </a:prstGeom>
          <a:solidFill>
            <a:srgbClr val="EFF6FF"/>
          </a:solidFill>
          <a:ln/>
        </p:spPr>
      </p:sp>
      <p:sp>
        <p:nvSpPr>
          <p:cNvPr id="25" name="Text 23"/>
          <p:cNvSpPr/>
          <p:nvPr/>
        </p:nvSpPr>
        <p:spPr>
          <a:xfrm>
            <a:off x="3520440" y="306324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023360" y="306324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Analytical Decision Making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520440" y="3429000"/>
            <a:ext cx="21488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 users and admins with graphical category charts, cash flow breakdowns, and PDF/Excel export reports.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035040" y="2926080"/>
            <a:ext cx="242316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172200" y="3063240"/>
            <a:ext cx="411480" cy="274320"/>
          </a:xfrm>
          <a:prstGeom prst="rect">
            <a:avLst/>
          </a:prstGeom>
          <a:solidFill>
            <a:srgbClr val="EFF6FF"/>
          </a:solidFill>
          <a:ln/>
        </p:spPr>
      </p:sp>
      <p:sp>
        <p:nvSpPr>
          <p:cNvPr id="30" name="Text 28"/>
          <p:cNvSpPr/>
          <p:nvPr/>
        </p:nvSpPr>
        <p:spPr>
          <a:xfrm>
            <a:off x="6172200" y="3063240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06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675120" y="306324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Platform Security &amp; Privacy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172200" y="3429000"/>
            <a:ext cx="21488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 military-grade hashed authentication, active session oversight, and multi-user invitation controls.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7680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Comprehensive Technology Stack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731520" y="1188720"/>
            <a:ext cx="1828800" cy="3337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188720"/>
            <a:ext cx="1828800" cy="502920"/>
          </a:xfrm>
          <a:prstGeom prst="rect">
            <a:avLst/>
          </a:prstGeom>
          <a:solidFill>
            <a:srgbClr val="EFF6FF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28016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Frontend Tier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68680" y="1828800"/>
            <a:ext cx="155448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React.js (v18) Single Page Application
•  Vite Ultra-Fast Build Engine
•  Tailwind CSS Utility Styling
•  Framer Motion Micro-Animations
•  Lucide React Vector Icons Suite
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697480" y="1188720"/>
            <a:ext cx="1828800" cy="3337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697480" y="1188720"/>
            <a:ext cx="1828800" cy="502920"/>
          </a:xfrm>
          <a:prstGeom prst="rect">
            <a:avLst/>
          </a:prstGeom>
          <a:solidFill>
            <a:srgbClr val="ECFDF5"/>
          </a:solidFill>
          <a:ln/>
        </p:spPr>
      </p:sp>
      <p:sp>
        <p:nvSpPr>
          <p:cNvPr id="9" name="Text 7"/>
          <p:cNvSpPr/>
          <p:nvPr/>
        </p:nvSpPr>
        <p:spPr>
          <a:xfrm>
            <a:off x="2788920" y="128016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596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Backend Tier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2834640" y="1828800"/>
            <a:ext cx="155448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Node.js Asynchronous Runtime
•  Express.js REST API Server
•  Modular Controller-Route Pattern
•  JSON Request / Response Format
•  CORS &amp; Security Middleware
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663440" y="1188720"/>
            <a:ext cx="1828800" cy="3337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663440" y="1188720"/>
            <a:ext cx="1828800" cy="502920"/>
          </a:xfrm>
          <a:prstGeom prst="rect">
            <a:avLst/>
          </a:prstGeom>
          <a:solidFill>
            <a:srgbClr val="FFFBEB"/>
          </a:solidFill>
          <a:ln/>
        </p:spPr>
      </p:sp>
      <p:sp>
        <p:nvSpPr>
          <p:cNvPr id="13" name="Text 11"/>
          <p:cNvSpPr/>
          <p:nvPr/>
        </p:nvSpPr>
        <p:spPr>
          <a:xfrm>
            <a:off x="4754880" y="128016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D9770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Database Tier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800600" y="1828800"/>
            <a:ext cx="155448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MongoDB Cloud Document Database
•  Mongoose Schema 
•  Embedded Documents &amp; Arrays
•  Indexing for High Query Velocity
•  Aggregation Pipelines for Balance
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629400" y="1188720"/>
            <a:ext cx="1828800" cy="3337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629400" y="1188720"/>
            <a:ext cx="1828800" cy="502920"/>
          </a:xfrm>
          <a:prstGeom prst="rect">
            <a:avLst/>
          </a:prstGeom>
          <a:solidFill>
            <a:srgbClr val="F5F3FF"/>
          </a:solidFill>
          <a:ln/>
        </p:spPr>
      </p:sp>
      <p:sp>
        <p:nvSpPr>
          <p:cNvPr id="17" name="Text 15"/>
          <p:cNvSpPr/>
          <p:nvPr/>
        </p:nvSpPr>
        <p:spPr>
          <a:xfrm>
            <a:off x="6720840" y="128016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7C3AE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DevOps &amp; Tooling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766560" y="1828800"/>
            <a:ext cx="155448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Visual Studio Code Editor
•  Git Version Control &amp; GitHub
•  Postman API Testing Suite
•  MongoDB Compass Database GUI
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7680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Platform Architecture: Admin vs User Roles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731520" y="1188720"/>
            <a:ext cx="3703320" cy="3337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188720"/>
            <a:ext cx="3703320" cy="457200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280160"/>
            <a:ext cx="3337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ADMINISTRATOR MODULE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1828800"/>
            <a:ext cx="333756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System Analytics: </a:t>
            </a: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overview of active users, total cashbooks, platform transaction volume.
</a:t>
            </a:r>
            <a:r>
              <a:rPr lang="en-US" sz="11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User Account Management: </a:t>
            </a: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List, inspect, activate, deactivate, or delete user accounts across the system.
</a:t>
            </a:r>
            <a:r>
              <a:rPr lang="en-US" sz="11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Transaction Oversight: </a:t>
            </a: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platform transactions, monitor flags, and ensure database compliance.
</a:t>
            </a:r>
            <a:r>
              <a:rPr lang="en-US" sz="11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Cashbook Governance: </a:t>
            </a: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Oversee shared cashbooks and invitation links for anti-abuse regulation.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709160" y="1188720"/>
            <a:ext cx="3703320" cy="3337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709160" y="1188720"/>
            <a:ext cx="3703320" cy="457200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9" name="Text 7"/>
          <p:cNvSpPr/>
          <p:nvPr/>
        </p:nvSpPr>
        <p:spPr>
          <a:xfrm>
            <a:off x="4892040" y="1280160"/>
            <a:ext cx="3337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596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END-USER (CLIENT) MODULE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892040" y="1828800"/>
            <a:ext cx="333756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Multi-Cashbook Ledgers: </a:t>
            </a: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distinct personal, household, and business financial books.
</a:t>
            </a:r>
            <a:r>
              <a:rPr lang="en-US" sz="11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Party Ledger (Credit Book): </a:t>
            </a: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credit and debit amounts against specific party names with reminder dispatch.
</a:t>
            </a:r>
            <a:r>
              <a:rPr lang="en-US" sz="11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Receipts Vault: </a:t>
            </a: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and organize bill photos, PDF receipts, and transaction proofs.
</a:t>
            </a:r>
            <a:r>
              <a:rPr lang="en-US" sz="11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Reports &amp; History: </a:t>
            </a: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records by date range, payment mode, or category with instant CSV/PDF export.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7680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5. System Flow Diagram (Process Flow)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731520" y="1051560"/>
            <a:ext cx="5166360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22960" y="1143000"/>
            <a:ext cx="4983480" cy="33375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080760" y="1051560"/>
            <a:ext cx="2331720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263640" y="1234440"/>
            <a:ext cx="1965960" cy="274320"/>
          </a:xfrm>
          <a:prstGeom prst="rect">
            <a:avLst/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263640" y="123444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0596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PROCESS FLOW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6263640" y="1645920"/>
            <a:ext cx="196596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buSzPct val="100000"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r>
              <a:rPr lang="en-US" sz="10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Start: User accesses the          Cash-Book portal.</a:t>
            </a:r>
          </a:p>
          <a:p>
            <a:pPr>
              <a:buSzPct val="100000"/>
            </a:pPr>
            <a:endParaRPr lang="en-US" sz="1000" dirty="0"/>
          </a:p>
          <a:p>
            <a:pPr>
              <a:buSzPct val="100000"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r>
              <a:rPr lang="en-US" sz="10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Auth Check: Checks existing    account session; redirects to Sign Up or Login.</a:t>
            </a:r>
            <a:endParaRPr lang="en-US" sz="1000" dirty="0"/>
          </a:p>
          <a:p>
            <a:pPr>
              <a:buSzPct val="100000"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r>
              <a:rPr lang="en-US" sz="10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Authorization: Validates hashed credentials via JWT token.</a:t>
            </a:r>
            <a:endParaRPr lang="en-US" sz="1000" dirty="0"/>
          </a:p>
          <a:p>
            <a:pPr>
              <a:buSzPct val="100000"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r>
              <a:rPr lang="en-US" sz="10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Main Menu: Unlocks Dashboard, Transactions, Party Ledger, Receipts, </a:t>
            </a:r>
            <a:r>
              <a:rPr lang="en-US" sz="100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Settings.</a:t>
            </a:r>
          </a:p>
          <a:p>
            <a:pPr>
              <a:buSzPct val="100000"/>
            </a:pPr>
            <a:endParaRPr lang="en-US" sz="1000" dirty="0"/>
          </a:p>
          <a:p>
            <a:pPr>
              <a:buSzPct val="100000"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r>
              <a:rPr lang="en-US" sz="10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Action Execution: Real-time CRUD operations update MongoDB state.</a:t>
            </a:r>
            <a:endParaRPr lang="en-US" sz="1000" dirty="0"/>
          </a:p>
          <a:p>
            <a:pPr>
              <a:buSzPct val="100000"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r>
              <a:rPr lang="en-US" sz="10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End: Session termination or logout.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7680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6. Data Flow Diagram (Context Level 0 DFD)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731520" y="1051560"/>
            <a:ext cx="5166360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22960" y="1822314"/>
            <a:ext cx="4983480" cy="1783405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080760" y="1051560"/>
            <a:ext cx="2331720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263640" y="1234440"/>
            <a:ext cx="1965960" cy="274320"/>
          </a:xfrm>
          <a:prstGeom prst="rect">
            <a:avLst/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263640" y="123444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0596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CONTEXT DFD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6263640" y="1645920"/>
            <a:ext cx="196596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buSzPct val="100000"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r>
              <a:rPr lang="en-US" sz="10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External Entity (User): Registers, manages transactions, logs debts, views reports.</a:t>
            </a:r>
          </a:p>
          <a:p>
            <a:pPr>
              <a:buSzPct val="100000"/>
            </a:pPr>
            <a:endParaRPr lang="en-US" sz="1000" dirty="0"/>
          </a:p>
          <a:p>
            <a:pPr>
              <a:buSzPct val="100000"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r>
              <a:rPr lang="en-US" sz="10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External Entity (Admin): Monitors platform metrics, inspects accounts, oversees system health.</a:t>
            </a:r>
            <a:endParaRPr lang="en-US" sz="1000" dirty="0"/>
          </a:p>
          <a:p>
            <a:pPr>
              <a:buSzPct val="100000"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r>
              <a:rPr lang="en-US" sz="10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 Process (Cash-Book System): Central routing engine processing authenticated payloads.</a:t>
            </a:r>
          </a:p>
          <a:p>
            <a:pPr>
              <a:buSzPct val="100000"/>
            </a:pPr>
            <a:endParaRPr lang="en-US" sz="1000" dirty="0"/>
          </a:p>
          <a:p>
            <a:pPr>
              <a:buSzPct val="100000"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r>
              <a:rPr lang="en-US" sz="10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Bi-directional Flows: Alerts, reminders, and generated financial reports flow back to user.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7680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7. Entity-Relationship (ER) Diagram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731520" y="1051560"/>
            <a:ext cx="5166360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22960" y="1143000"/>
            <a:ext cx="4983480" cy="33375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080760" y="1051560"/>
            <a:ext cx="2331720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263640" y="1234440"/>
            <a:ext cx="1965960" cy="274320"/>
          </a:xfrm>
          <a:prstGeom prst="rect">
            <a:avLst/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263640" y="123444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0596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ER DIAGRAM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6263640" y="1645920"/>
            <a:ext cx="196596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buSzPct val="100000"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105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User Entity: PK email, credentials, admin role flag. Sends invitations, owns cashbooks.</a:t>
            </a:r>
          </a:p>
          <a:p>
            <a:pPr>
              <a:buSzPct val="100000"/>
            </a:pPr>
            <a:endParaRPr lang="en-US" sz="1050" dirty="0"/>
          </a:p>
          <a:p>
            <a:pPr>
              <a:buSzPct val="100000"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r>
              <a:rPr lang="en-US" sz="105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Cashbook Entity: Multi-cashbook support containing transactions.</a:t>
            </a:r>
          </a:p>
          <a:p>
            <a:pPr>
              <a:buSzPct val="100000"/>
            </a:pPr>
            <a:endParaRPr lang="en-US" sz="1050" dirty="0"/>
          </a:p>
          <a:p>
            <a:pPr>
              <a:buSzPct val="100000"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r>
              <a:rPr lang="en-US" sz="105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Transaction Entity: Linked to Cashbook; attributes: amount, type, party, date, time.</a:t>
            </a:r>
          </a:p>
          <a:p>
            <a:pPr>
              <a:buSzPct val="100000"/>
            </a:pPr>
            <a:endParaRPr lang="en-US" sz="1050" dirty="0"/>
          </a:p>
          <a:p>
            <a:pPr>
              <a:buSzPct val="100000"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</a:t>
            </a:r>
            <a:r>
              <a:rPr lang="en-US" sz="105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Category &amp; Receipt: Categorization mapping &amp; cloud image URL attachment.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645920"/>
            <a:ext cx="1097280" cy="320040"/>
          </a:xfrm>
          <a:prstGeom prst="rect">
            <a:avLst/>
          </a:prstGeom>
          <a:solidFill>
            <a:srgbClr val="0284C7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64592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SECTION 02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914400" y="210312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DATABASE DESIGN &amp; SCHEMAS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914400" y="292608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dictionary, field data types, constraints &amp; Mongoose schemas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914400" y="3840480"/>
            <a:ext cx="7315200" cy="0"/>
          </a:xfrm>
          <a:prstGeom prst="line">
            <a:avLst/>
          </a:prstGeom>
          <a:noFill/>
          <a:ln w="19050">
            <a:solidFill>
              <a:srgbClr val="33415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402336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Cash-Book: Smart Finance &amp; Digital Ledger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7680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Database Schema: User Collection</a:t>
            </a:r>
            <a:endParaRPr lang="en-US" sz="2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143000"/>
          <a:ext cx="7680960" cy="3027680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Field Name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4ED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Type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4ED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Constraints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4ED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Description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4E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username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Required, Trim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User display / business name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email_id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Required, Unique, Lowercase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Primary account identifier &amp; login email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password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Required, Min: 6 chars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Bcrypt-hashed encrypted password string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phone_number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Optional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Phone number for SMS/WhatsApp debt reminders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is_admin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Boolean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Default: false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Flag distinguishing Admin vs Standard User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Enum: [active, suspended]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Account moderation state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created_at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Default: Date.now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Timestamp when account was registered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7680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Database Schema: Transaction Collection</a:t>
            </a:r>
            <a:endParaRPr lang="en-US" sz="2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52359823"/>
              </p:ext>
            </p:extLst>
          </p:nvPr>
        </p:nvGraphicFramePr>
        <p:xfrm>
          <a:off x="731520" y="1143000"/>
          <a:ext cx="7680960" cy="2851218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Field Name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4ED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Type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4ED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Constraints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4ED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Description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4E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cashbook_id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ObjectId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Ref: Cashbook, Required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Parent cashbook partition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title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Required, Trim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Brief transaction description / item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amount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Number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Required, Min: 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Monetary numeric value of transaction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Enum: [income, expense]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Flow indicator affecting net balance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party_type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Enum: [creditor, debtor]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Credit / Debit tracking classification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party_name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Optional, Trim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 of the party/person owed to/from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payment_mode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Enum: [Cash, Bank, UPI]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Payment method utilized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None/>
                      </a:pPr>
                      <a:r>
                        <a:rPr lang="en-US" sz="10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date / time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String / Date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Default: Current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Audit timestamp of the record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7680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Database Schemas: Cashbook &amp; Invitation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731520" y="105156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Collection: Cashbook</a:t>
            </a:r>
            <a:endParaRPr lang="en-US" sz="13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18651002"/>
              </p:ext>
            </p:extLst>
          </p:nvPr>
        </p:nvGraphicFramePr>
        <p:xfrm>
          <a:off x="731520" y="1325880"/>
          <a:ext cx="7680960" cy="1124712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Field Name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4ED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Type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4ED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Constraints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4ED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Description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4E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cashbook_name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Required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Display title of the ledger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owner_email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Required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Creator user identifier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members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Array of String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Default: []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 of accepted member emails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731520" y="288036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596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Collection: Invitation</a:t>
            </a:r>
            <a:endParaRPr lang="en-US" sz="1300" dirty="0"/>
          </a:p>
        </p:txBody>
      </p:sp>
      <p:graphicFrame>
        <p:nvGraphicFramePr>
          <p:cNvPr id="2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45041048"/>
              </p:ext>
            </p:extLst>
          </p:nvPr>
        </p:nvGraphicFramePr>
        <p:xfrm>
          <a:off x="731520" y="3154680"/>
          <a:ext cx="7680960" cy="1353312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Field Name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966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Type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966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Constraints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966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Description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5966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inviter_email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Required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Email of user sending the invite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invitee_email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Required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Target collaborator email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Enum: [pending, accepted, rejected]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50000"/>
                        </a:lnSpc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Invitation status workflow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38100" marB="3810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645920"/>
            <a:ext cx="1097280" cy="320040"/>
          </a:xfrm>
          <a:prstGeom prst="rect">
            <a:avLst/>
          </a:prstGeom>
          <a:solidFill>
            <a:srgbClr val="0284C7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64592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SECTION 03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914400" y="210312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ADMINISTRATOR MODULES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914400" y="292608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walk-through of admin security, analytics &amp; platform moderation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914400" y="3840480"/>
            <a:ext cx="7315200" cy="0"/>
          </a:xfrm>
          <a:prstGeom prst="line">
            <a:avLst/>
          </a:prstGeom>
          <a:noFill/>
          <a:ln w="19050">
            <a:solidFill>
              <a:srgbClr val="33415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402336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Cash-Book: Smart Finance &amp; Digital Ledger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7680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Admin Portal: Secure Authentication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731520" y="1051560"/>
            <a:ext cx="4892040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22960" y="1143000"/>
            <a:ext cx="4709160" cy="33375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806440" y="1051560"/>
            <a:ext cx="2606040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016752" y="1234440"/>
            <a:ext cx="2194560" cy="292608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016752" y="123444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ADMIN LOGIN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5989320" y="1691640"/>
            <a:ext cx="224028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Dedicated administrator login route (/admin/login).</a:t>
            </a:r>
          </a:p>
          <a:p>
            <a:pPr marL="342900" indent="-342900">
              <a:buSzPct val="100000"/>
              <a:buChar char="•"/>
            </a:pP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Enforces role-based checks (is_admin === true).</a:t>
            </a:r>
          </a:p>
          <a:p>
            <a:pPr marL="342900" indent="-342900">
              <a:buSzPct val="100000"/>
              <a:buChar char="•"/>
            </a:pP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Protection against unauthorized privilege escalation.</a:t>
            </a:r>
          </a:p>
          <a:p>
            <a:pPr marL="342900" indent="-342900">
              <a:buSzPct val="100000"/>
              <a:buChar char="•"/>
            </a:pP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Session storage caching for rapid administrative workflow.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7680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Admin Overview: Real-Time Analytics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731520" y="1051560"/>
            <a:ext cx="4892040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22960" y="1143000"/>
            <a:ext cx="4709160" cy="33375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806440" y="1051560"/>
            <a:ext cx="2606040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016752" y="1234440"/>
            <a:ext cx="2194560" cy="292608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016752" y="123444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OVERVIEW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5989320" y="1691640"/>
            <a:ext cx="224028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Dynamic summary widgets: Total platform users, active ledgers, total cash volume.</a:t>
            </a:r>
          </a:p>
          <a:p>
            <a:pPr marL="342900" indent="-342900">
              <a:buSzPct val="100000"/>
              <a:buChar char="•"/>
            </a:pP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Interactive visual charts breaking down growth velocity.</a:t>
            </a:r>
          </a:p>
          <a:p>
            <a:pPr marL="342900" indent="-342900">
              <a:buSzPct val="100000"/>
              <a:buChar char="•"/>
            </a:pP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Quick action links to review user reports and system alerts.</a:t>
            </a:r>
          </a:p>
          <a:p>
            <a:pPr marL="342900" indent="-342900">
              <a:buSzPct val="100000"/>
              <a:buChar char="•"/>
            </a:pP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Health status monitoring for database and server load.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7680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Admin User Management: Account Moderation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731520" y="1051560"/>
            <a:ext cx="4892040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22960" y="1143000"/>
            <a:ext cx="4709160" cy="33375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806440" y="1051560"/>
            <a:ext cx="2606040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016752" y="1234440"/>
            <a:ext cx="2194560" cy="292608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016752" y="123444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USER MANAGEMENT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5989320" y="1691640"/>
            <a:ext cx="224028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Tabular view of all registered users across the platform.</a:t>
            </a:r>
          </a:p>
          <a:p>
            <a:pPr marL="342900" indent="-342900">
              <a:buSzPct val="100000"/>
              <a:buChar char="•"/>
            </a:pP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Search and filter accounts by email, username, or role.</a:t>
            </a:r>
          </a:p>
          <a:p>
            <a:pPr marL="342900" indent="-342900">
              <a:buSzPct val="100000"/>
              <a:buChar char="•"/>
            </a:pP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One-click suspend, reactivate, or delete user controls.</a:t>
            </a:r>
          </a:p>
          <a:p>
            <a:pPr marL="342900" indent="-342900">
              <a:buSzPct val="100000"/>
              <a:buChar char="•"/>
            </a:pP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Inspection of user created cashbooks and activity timestamps.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7680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Cashbook Registry &amp; Global Oversight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731520" y="1051560"/>
            <a:ext cx="4892040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22960" y="1143000"/>
            <a:ext cx="4709160" cy="33375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806440" y="1051560"/>
            <a:ext cx="2606040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016752" y="1234440"/>
            <a:ext cx="2194560" cy="292608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016752" y="123444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CASHBOOK REGISTRY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5989320" y="1691640"/>
            <a:ext cx="224028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Global transaction audit ledger spanning all users.</a:t>
            </a:r>
          </a:p>
          <a:p>
            <a:pPr marL="342900" indent="-342900">
              <a:buSzPct val="100000"/>
              <a:buChar char="•"/>
            </a:pP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Filter by monetary range, payment type, or suspicious flags.</a:t>
            </a:r>
          </a:p>
          <a:p>
            <a:pPr marL="342900" indent="-342900">
              <a:buSzPct val="100000"/>
              <a:buChar char="•"/>
            </a:pP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Audit log records ensuring database transaction integrity.</a:t>
            </a:r>
          </a:p>
          <a:p>
            <a:pPr marL="342900" indent="-342900">
              <a:buSzPct val="100000"/>
              <a:buChar char="•"/>
            </a:pP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Direct access to manage orphaned or shared cashbooks.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645920"/>
            <a:ext cx="1097280" cy="320040"/>
          </a:xfrm>
          <a:prstGeom prst="rect">
            <a:avLst/>
          </a:prstGeom>
          <a:solidFill>
            <a:srgbClr val="0284C7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64592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SECTION 04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914400" y="210312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USER CLIENT MODULES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914400" y="292608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finances, digital cashbooks, credit ledger, receipts vault &amp; reports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914400" y="3840480"/>
            <a:ext cx="7315200" cy="0"/>
          </a:xfrm>
          <a:prstGeom prst="line">
            <a:avLst/>
          </a:prstGeom>
          <a:noFill/>
          <a:ln w="19050">
            <a:solidFill>
              <a:srgbClr val="33415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402336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Cash-Book: Smart Finance &amp; Digital Ledger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7680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Landing Page: Modern Responsive Portal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731520" y="1051560"/>
            <a:ext cx="4892040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22960" y="1143000"/>
            <a:ext cx="4709160" cy="33375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806440" y="1051560"/>
            <a:ext cx="2606040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016752" y="1234440"/>
            <a:ext cx="2194560" cy="292608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016752" y="123444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LANDING PAGE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5989320" y="1691640"/>
            <a:ext cx="224028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Clean landing page with clear call-to-actions (Get Started, Sign In).</a:t>
            </a:r>
          </a:p>
          <a:p>
            <a:pPr marL="342900" indent="-342900">
              <a:buSzPct val="100000"/>
              <a:buChar char="•"/>
            </a:pP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Feature highlight cards illustrating the advantages of digital bookkeeping.</a:t>
            </a:r>
          </a:p>
          <a:p>
            <a:pPr marL="342900" indent="-342900">
              <a:buSzPct val="100000"/>
              <a:buChar char="•"/>
            </a:pP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Customer testimonials and responsive mobile/desktop layout.</a:t>
            </a:r>
          </a:p>
          <a:p>
            <a:pPr marL="342900" indent="-342900">
              <a:buSzPct val="100000"/>
              <a:buChar char="•"/>
            </a:pP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Direct onboarding path for new users.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7680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User Authentication: Login &amp; Sign Up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731520" y="1051560"/>
            <a:ext cx="4892040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22960" y="1143000"/>
            <a:ext cx="4709160" cy="33375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806440" y="1051560"/>
            <a:ext cx="2606040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016752" y="1234440"/>
            <a:ext cx="2194560" cy="292608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016752" y="123444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USER LOGIN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5989320" y="1691640"/>
            <a:ext cx="224028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Secure Sign In and Sign Up with validation.</a:t>
            </a:r>
          </a:p>
          <a:p>
            <a:pPr marL="342900" indent="-342900">
              <a:buSzPct val="100000"/>
              <a:buChar char="•"/>
            </a:pP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Bcrypt password encryption and JWT token exchange.</a:t>
            </a:r>
          </a:p>
          <a:p>
            <a:pPr marL="342900" indent="-342900">
              <a:buSzPct val="100000"/>
              <a:buChar char="•"/>
            </a:pP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Persistent light/dark UI theme preference storage.</a:t>
            </a:r>
          </a:p>
          <a:p>
            <a:pPr marL="342900" indent="-342900">
              <a:buSzPct val="100000"/>
              <a:buChar char="•"/>
            </a:pP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Session restoration to keep logged-in users productive.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7680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User Home Dashboard: Financial Overview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731520" y="1051560"/>
            <a:ext cx="4892040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22960" y="1143000"/>
            <a:ext cx="4709160" cy="33375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806440" y="1051560"/>
            <a:ext cx="2606040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016752" y="1234440"/>
            <a:ext cx="2194560" cy="292608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016752" y="123444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DASHBOARD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5989320" y="1691640"/>
            <a:ext cx="224028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Real-time Net Balance card (Total In vs Total Out).</a:t>
            </a:r>
          </a:p>
          <a:p>
            <a:pPr marL="342900" indent="-342900">
              <a:buSzPct val="100000"/>
              <a:buChar char="•"/>
            </a:pP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Color-coded cash inflow (Green) and outflow (Red) metrics.</a:t>
            </a:r>
          </a:p>
          <a:p>
            <a:pPr marL="342900" indent="-342900">
              <a:buSzPct val="100000"/>
              <a:buChar char="•"/>
            </a:pP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Recent transaction feed with instant search and pagination.</a:t>
            </a:r>
          </a:p>
          <a:p>
            <a:pPr marL="342900" indent="-342900">
              <a:buSzPct val="100000"/>
              <a:buChar char="•"/>
            </a:pP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Quick access buttons to add entries or view ledger statements.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7680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Cashbooks: Multi-Ledger Management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731520" y="1051560"/>
            <a:ext cx="4892040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4" name="Image 0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22960" y="1234440"/>
            <a:ext cx="4709160" cy="32004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806440" y="1051560"/>
            <a:ext cx="2606040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016752" y="1234440"/>
            <a:ext cx="2194560" cy="292608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016752" y="123444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CASHBOOKS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5989320" y="1691640"/>
            <a:ext cx="224028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Create unlimited segregated cashbooks (e.g. Home, Shop, Freelance).</a:t>
            </a:r>
          </a:p>
          <a:p>
            <a:pPr marL="342900" indent="-342900">
              <a:buSzPct val="100000"/>
              <a:buChar char="•"/>
            </a:pP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Independent balances calculated per cashbook.</a:t>
            </a:r>
          </a:p>
          <a:p>
            <a:pPr marL="342900" indent="-342900">
              <a:buSzPct val="100000"/>
              <a:buChar char="•"/>
            </a:pP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Seamless one-click switching between active cashbooks.</a:t>
            </a:r>
          </a:p>
          <a:p>
            <a:pPr marL="342900" indent="-342900">
              <a:buSzPct val="100000"/>
              <a:buChar char="•"/>
            </a:pP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Shared cashbook indicators showing collaborator count.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7680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Transactions: Fast Logging &amp; Popup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731520" y="1051560"/>
            <a:ext cx="4892040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22960" y="1143000"/>
            <a:ext cx="4709160" cy="33375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806440" y="1051560"/>
            <a:ext cx="2606040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016752" y="1234440"/>
            <a:ext cx="2194560" cy="292608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016752" y="123444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TRANSACTIONS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5989320" y="1691640"/>
            <a:ext cx="224028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Fast modal popup for friction-free transaction entry.</a:t>
            </a:r>
          </a:p>
          <a:p>
            <a:pPr marL="342900" indent="-342900">
              <a:buSzPct val="100000"/>
              <a:buChar char="•"/>
            </a:pP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Select transaction type (Income vs Expense).</a:t>
            </a:r>
          </a:p>
          <a:p>
            <a:pPr marL="342900" indent="-342900">
              <a:buSzPct val="100000"/>
              <a:buChar char="•"/>
            </a:pP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Payment mode selection (Cash, Bank Transfer, UPI).</a:t>
            </a:r>
          </a:p>
          <a:p>
            <a:pPr marL="342900" indent="-342900">
              <a:buSzPct val="100000"/>
              <a:buChar char="•"/>
            </a:pP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Optional party tagging for credit and debit ledger syncing.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7680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Party Ledger: Credit / Debit Tracking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731520" y="1051560"/>
            <a:ext cx="4892040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22960" y="1143000"/>
            <a:ext cx="4709160" cy="33375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806440" y="1051560"/>
            <a:ext cx="2606040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016752" y="1234440"/>
            <a:ext cx="2194560" cy="292608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016752" y="123444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PARTY LEDGER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5989320" y="1691640"/>
            <a:ext cx="224028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Dedicated digitized ledger for tracking credit given and credit received.</a:t>
            </a:r>
          </a:p>
          <a:p>
            <a:pPr marL="342900" indent="-342900">
              <a:buSzPct val="100000"/>
              <a:buChar char="•"/>
            </a:pP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Visual cards for each party with Net Balance and credit/debt status indicator.</a:t>
            </a:r>
          </a:p>
          <a:p>
            <a:pPr marL="342900" indent="-342900">
              <a:buSzPct val="100000"/>
              <a:buChar char="•"/>
            </a:pP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Single-click WhatsApp reminder generator with pre-filled credit balance message.</a:t>
            </a:r>
          </a:p>
          <a:p>
            <a:pPr marL="342900" indent="-342900">
              <a:buSzPct val="100000"/>
              <a:buChar char="•"/>
            </a:pP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Historical ledger timeline per person showing credits, debits, and settlements.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7680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EMI &amp; Subscription Tracker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731520" y="1051560"/>
            <a:ext cx="4892040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22960" y="1143000"/>
            <a:ext cx="4709160" cy="33375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806440" y="1051560"/>
            <a:ext cx="2606040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016752" y="1234440"/>
            <a:ext cx="2194560" cy="292608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016752" y="123444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EMI &amp; SUBS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5989320" y="1691640"/>
            <a:ext cx="224028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Centralized tracker for fixed monthly installments and subscriptions.</a:t>
            </a:r>
          </a:p>
          <a:p>
            <a:pPr marL="342900" indent="-342900">
              <a:buSzPct val="100000"/>
              <a:buChar char="•"/>
            </a:pP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Due-date calendar views and countdown days remaining badges.</a:t>
            </a:r>
          </a:p>
          <a:p>
            <a:pPr marL="342900" indent="-342900">
              <a:buSzPct val="100000"/>
              <a:buChar char="•"/>
            </a:pP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Auto-calculation of monthly recurring expenditure liability.</a:t>
            </a:r>
          </a:p>
          <a:p>
            <a:pPr marL="342900" indent="-342900">
              <a:buSzPct val="100000"/>
              <a:buChar char="•"/>
            </a:pP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Mark paid / active toggles to prevent missed deadline penalties.</a:t>
            </a:r>
            <a:endParaRPr lang="en-US" sz="11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7680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Receipts Vault: Document Storage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731520" y="1051560"/>
            <a:ext cx="4892040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4" name="Image 0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22960" y="1173804"/>
            <a:ext cx="4709160" cy="326103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806440" y="1051560"/>
            <a:ext cx="2606040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016752" y="1234440"/>
            <a:ext cx="2194560" cy="292608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016752" y="123444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RECEIPTS VAULT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5989320" y="1691640"/>
            <a:ext cx="224028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Secure digital storage for paper bill proofs, invoices, and warranties.</a:t>
            </a:r>
          </a:p>
          <a:p>
            <a:pPr marL="342900" indent="-342900">
              <a:buSzPct val="100000"/>
              <a:buChar char="•"/>
            </a:pP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Upload image files directly attached to monetary transactions.</a:t>
            </a:r>
          </a:p>
          <a:p>
            <a:pPr marL="342900" indent="-342900">
              <a:buSzPct val="100000"/>
              <a:buChar char="•"/>
            </a:pP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Full-screen modal image preview and download options.</a:t>
            </a:r>
          </a:p>
          <a:p>
            <a:pPr marL="342900" indent="-342900">
              <a:buSzPct val="100000"/>
              <a:buChar char="•"/>
            </a:pP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Search receipts by merchant name, date, or amount.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7680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Reminders &amp; Custom Payment Modes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731520" y="1051560"/>
            <a:ext cx="4892040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22960" y="1143000"/>
            <a:ext cx="4709160" cy="33375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806440" y="1051560"/>
            <a:ext cx="2606040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016752" y="1234440"/>
            <a:ext cx="2194560" cy="292608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016752" y="123444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PAYMENT MODE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5989320" y="1691640"/>
            <a:ext cx="224028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Manage and add customized payment channels (Cash, Google Pay, PhonePe, Cards).</a:t>
            </a:r>
          </a:p>
          <a:p>
            <a:pPr marL="342900" indent="-342900">
              <a:buSzPct val="100000"/>
              <a:buChar char="•"/>
            </a:pP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Set scheduled reminder alerts for recurring supplier payments.</a:t>
            </a:r>
          </a:p>
          <a:p>
            <a:pPr marL="342900" indent="-342900">
              <a:buSzPct val="100000"/>
              <a:buChar char="•"/>
            </a:pP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Visual icons indicating transaction payment mode on statement feeds.</a:t>
            </a:r>
          </a:p>
          <a:p>
            <a:pPr marL="342900" indent="-342900">
              <a:buSzPct val="100000"/>
              <a:buChar char="•"/>
            </a:pP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Real-time filter by payment channel in reports.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7680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Shared Cashbooks &amp; Member Invitations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731520" y="1051560"/>
            <a:ext cx="4892040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4" name="Image 0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22960" y="1234440"/>
            <a:ext cx="4709160" cy="3200399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806440" y="1051560"/>
            <a:ext cx="2606040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016752" y="1234440"/>
            <a:ext cx="2194560" cy="292608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016752" y="123444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INVITATIONS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5989320" y="1691640"/>
            <a:ext cx="224028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Invite business partners, accountants, or family via email address.</a:t>
            </a:r>
          </a:p>
          <a:p>
            <a:pPr marL="342900" indent="-342900">
              <a:buSzPct val="100000"/>
              <a:buChar char="•"/>
            </a:pP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Real-time invitation approval workflow (Pending, Accepted, Rejected).</a:t>
            </a:r>
          </a:p>
          <a:p>
            <a:pPr marL="342900" indent="-342900">
              <a:buSzPct val="100000"/>
              <a:buChar char="•"/>
            </a:pP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Role permissions preventing unauthorized modifications.</a:t>
            </a:r>
          </a:p>
          <a:p>
            <a:pPr marL="342900" indent="-342900">
              <a:buSzPct val="100000"/>
              <a:buChar char="•"/>
            </a:pP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Collaborative live updates across invited members.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7680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Analytics &amp; Exportable Reports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731520" y="1051560"/>
            <a:ext cx="4892040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4" name="Image 0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22960" y="1234440"/>
            <a:ext cx="4709160" cy="32004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806440" y="1051560"/>
            <a:ext cx="2606040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016752" y="1234440"/>
            <a:ext cx="2194560" cy="292608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016752" y="123444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REPORTS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5989320" y="1691640"/>
            <a:ext cx="224028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Interactive graphical analytics breaking down spending by category.</a:t>
            </a:r>
          </a:p>
          <a:p>
            <a:pPr marL="342900" indent="-342900">
              <a:buSzPct val="100000"/>
              <a:buChar char="•"/>
            </a:pP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Date range filtering (Today, This Month, This Year, Custom).</a:t>
            </a:r>
          </a:p>
          <a:p>
            <a:pPr marL="342900" indent="-342900">
              <a:buSzPct val="100000"/>
              <a:buChar char="•"/>
            </a:pP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One-click export of financial statements to PDF and Excel/CSV.</a:t>
            </a:r>
          </a:p>
          <a:p>
            <a:pPr marL="342900" indent="-342900">
              <a:buSzPct val="100000"/>
              <a:buChar char="•"/>
            </a:pP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Print-ready professional statement formatting for tax/accounting.</a:t>
            </a:r>
            <a:endParaRPr lang="en-US" sz="11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7680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User Settings: Security &amp; Active Sessions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731520" y="1051560"/>
            <a:ext cx="4892040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22960" y="1143000"/>
            <a:ext cx="4709160" cy="33375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806440" y="1051560"/>
            <a:ext cx="2606040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016752" y="1234440"/>
            <a:ext cx="2194560" cy="292608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016752" y="1234440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SETTINGS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5989320" y="1691640"/>
            <a:ext cx="224028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View all active devices and browser login sessions.</a:t>
            </a:r>
          </a:p>
          <a:p>
            <a:pPr marL="342900" indent="-342900">
              <a:buSzPct val="100000"/>
              <a:buChar char="•"/>
            </a:pP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Remote session revocation to terminate unauthorized logins.</a:t>
            </a:r>
          </a:p>
          <a:p>
            <a:pPr marL="342900" indent="-342900">
              <a:buSzPct val="100000"/>
              <a:buChar char="•"/>
            </a:pP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Profile information editing (Name, Phone Number, Password update).</a:t>
            </a:r>
          </a:p>
          <a:p>
            <a:pPr marL="342900" indent="-342900">
              <a:buSzPct val="100000"/>
              <a:buChar char="•"/>
            </a:pP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UI Theme preferences with instant dark/light mode toggle.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7680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Security Architecture &amp; Performance Engineering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731520" y="1234440"/>
            <a:ext cx="242316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14400" y="1417320"/>
            <a:ext cx="2057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JWT Authentication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914400" y="1783080"/>
            <a:ext cx="2057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Stateless JSON Web Tokens with encrypted HMAC signing for API request authorization.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383280" y="1234440"/>
            <a:ext cx="242316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566160" y="1417320"/>
            <a:ext cx="2057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Bcrypt Password Hashing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3566160" y="1783080"/>
            <a:ext cx="2057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Salt rounds of 10 applied to all passwords before database storage; zero plain-text storage.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035040" y="1234440"/>
            <a:ext cx="242316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217920" y="1417320"/>
            <a:ext cx="2057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Payload Sanitization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217920" y="1783080"/>
            <a:ext cx="2057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Mongoose schema validators and input scrubbing preventing NoSQL injection and XSS.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31520" y="2926080"/>
            <a:ext cx="242316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4400" y="3108960"/>
            <a:ext cx="2057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CORS &amp; Protection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914400" y="3474720"/>
            <a:ext cx="2057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Whitelisted origin access ensuring backend endpoints only accept valid requests.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383280" y="2926080"/>
            <a:ext cx="242316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566160" y="3108960"/>
            <a:ext cx="2057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Database Indexing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3566160" y="3474720"/>
            <a:ext cx="2057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Compound index on user_email, cashbook_id, and date for sub-millisecond query returns.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035040" y="2926080"/>
            <a:ext cx="242316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217920" y="3108960"/>
            <a:ext cx="2057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D4ED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Client Cache Optimization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6217920" y="3474720"/>
            <a:ext cx="2057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state caching and optimistic UI updates minimizing redundant backend network roundtrips.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7680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Future Scope &amp; Technological Enhancements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731520" y="1234440"/>
            <a:ext cx="374904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14400" y="141732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00000"/>
                </a:solidFill>
              </a:rPr>
              <a:t>🤖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463040" y="141732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Receipt OCR Scanner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463040" y="1783080"/>
            <a:ext cx="2834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 Tesseract.js / OpenAI Vision to automatically extract merchant name, date, and total amount from photographed bills.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663440" y="1234440"/>
            <a:ext cx="374904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46320" y="141732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00000"/>
                </a:solidFill>
              </a:rPr>
              <a:t>📱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394960" y="141732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Cross-Platform Mobile App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394960" y="1783080"/>
            <a:ext cx="2834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 React Native iOS and Android companion apps with offline-first synchronization and biometric fingerprint login.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31520" y="2926080"/>
            <a:ext cx="374904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310896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00000"/>
                </a:solidFill>
              </a:rPr>
              <a:t>🔔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463040" y="310896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Automated SMS &amp; WhatsApp Bots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463040" y="3474720"/>
            <a:ext cx="2834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scheduling bot dispatching friendly payment reminders and one-tap payment link receipts via Twilio/Meta API.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663440" y="2926080"/>
            <a:ext cx="374904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46320" y="310896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00000"/>
                </a:solidFill>
              </a:rPr>
              <a:t>🏦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5394960" y="3108960"/>
            <a:ext cx="2834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 Banking API Sync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394960" y="3474720"/>
            <a:ext cx="2834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integration with UPI and bank account feeds for automatic transaction logging without manual user input.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11480"/>
            <a:ext cx="7680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References &amp; Bibliography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731520" y="1188720"/>
            <a:ext cx="7680960" cy="3337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05840" y="1371600"/>
            <a:ext cx="713232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buNone/>
            </a:pPr>
            <a:r>
              <a:rPr lang="en-US" sz="13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Documentation &amp; Technical Resources:
</a:t>
            </a: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React Official Documentation: </a:t>
            </a:r>
            <a:r>
              <a:rPr lang="en-IN" sz="1200" u="sng" dirty="0">
                <a:hlinkClick r:id="rId3"/>
              </a:rPr>
              <a:t>https://reactjs.org/docs/getting-started.html </a:t>
            </a: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•  Node.js &amp; Express API Reference: </a:t>
            </a:r>
            <a:r>
              <a:rPr lang="en-IN" sz="1200" u="sng" dirty="0">
                <a:hlinkClick r:id="rId4"/>
              </a:rPr>
              <a:t>https://nodejs.org/en/docs/</a:t>
            </a: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  </a:t>
            </a:r>
            <a:r>
              <a:rPr lang="en-IN" sz="1100" u="sng" dirty="0">
                <a:hlinkClick r:id="rId5"/>
              </a:rPr>
              <a:t>https://expressjs.com </a:t>
            </a: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•  MongoDB :</a:t>
            </a:r>
            <a:r>
              <a:rPr lang="en-IN" dirty="0"/>
              <a:t> </a:t>
            </a:r>
            <a:r>
              <a:rPr lang="en-IN" sz="1200" u="sng" dirty="0">
                <a:hlinkClick r:id="rId6"/>
              </a:rPr>
              <a:t>https://docs.mongodb.com/manual/</a:t>
            </a: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•  Tailwind CSS Design </a:t>
            </a:r>
            <a:r>
              <a:rPr lang="en-IN" sz="1200" u="sng" dirty="0">
                <a:solidFill>
                  <a:schemeClr val="accent1"/>
                </a:solidFill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https://tailwindcss.com/docs</a:t>
            </a: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•  Gemini for Diagrams </a:t>
            </a:r>
            <a:r>
              <a:rPr lang="en-US" sz="115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r>
              <a:rPr lang="en-IN" sz="1200" dirty="0">
                <a:solidFill>
                  <a:schemeClr val="accent1"/>
                </a:solidFill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https://gemini.google.com</a:t>
            </a:r>
            <a:endParaRPr lang="en-IN" sz="1200" dirty="0">
              <a:solidFill>
                <a:schemeClr val="accent1"/>
              </a:solidFill>
              <a:hlinkClick r:id="rId8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  <a:p>
            <a:pPr marL="0" indent="0">
              <a:lnSpc>
                <a:spcPts val="2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r>
              <a:rPr lang="en-US" sz="13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Institutional Guidance &amp; Support:
</a:t>
            </a: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Prof. V. B. Shah Institute of Management &amp; </a:t>
            </a:r>
            <a:r>
              <a:rPr lang="en-US" sz="115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Sutex</a:t>
            </a: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Bank College of Computer Applications &amp; Science, </a:t>
            </a:r>
            <a:r>
              <a:rPr lang="en-US" sz="115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Amroli</a:t>
            </a: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•  Guidance and Mentorship by  (Assistant Professor)
•  Veer Narmad South Gujarat University (VNSGU), Surat</a:t>
            </a:r>
            <a:endParaRPr lang="en-US" sz="1150" dirty="0"/>
          </a:p>
        </p:txBody>
      </p:sp>
      <p:pic>
        <p:nvPicPr>
          <p:cNvPr id="5" name="Picture 4">
            <a:hlinkClick r:id="rId8"/>
            <a:extLst>
              <a:ext uri="{FF2B5EF4-FFF2-40B4-BE49-F238E27FC236}">
                <a16:creationId xmlns:a16="http://schemas.microsoft.com/office/drawing/2014/main" id="{212095A1-D549-0339-D34F-5A43C81120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263957" y="2451775"/>
            <a:ext cx="239949" cy="239949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371600" y="1097280"/>
            <a:ext cx="6400800" cy="2926080"/>
          </a:xfrm>
          <a:prstGeom prst="rect">
            <a:avLst/>
          </a:prstGeom>
          <a:solidFill>
            <a:srgbClr val="1E293B"/>
          </a:solidFill>
          <a:ln w="19050">
            <a:solidFill>
              <a:srgbClr val="33415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0" y="146304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THANK YOU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1371600" y="219456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284C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Cash-Book: Smart Finance &amp; Digital Ledger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371600" y="265176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Questions or Feedback?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371600" y="329184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Bhuva Jeel M.  •  Savsaviya Kushal B.  •  Narola Jash M.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60</TotalTime>
  <Words>2785</Words>
  <Application>Microsoft Office PowerPoint</Application>
  <PresentationFormat>On-screen Show (16:9)</PresentationFormat>
  <Paragraphs>450</Paragraphs>
  <Slides>36</Slides>
  <Notes>36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41" baseType="lpstr">
      <vt:lpstr>Arial</vt:lpstr>
      <vt:lpstr>Calibri</vt:lpstr>
      <vt:lpstr>Calibri Light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Jash Narola</cp:lastModifiedBy>
  <cp:revision>62</cp:revision>
  <dcterms:created xsi:type="dcterms:W3CDTF">2026-10-11T08:26:05Z</dcterms:created>
  <dcterms:modified xsi:type="dcterms:W3CDTF">2026-10-13T16:01:55Z</dcterms:modified>
</cp:coreProperties>
</file>